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0" r:id="rId9"/>
    <p:sldId id="291" r:id="rId10"/>
    <p:sldId id="293" r:id="rId11"/>
    <p:sldId id="292" r:id="rId12"/>
    <p:sldId id="262" r:id="rId13"/>
    <p:sldId id="264" r:id="rId14"/>
    <p:sldId id="286" r:id="rId15"/>
    <p:sldId id="287" r:id="rId16"/>
    <p:sldId id="280" r:id="rId17"/>
    <p:sldId id="288" r:id="rId18"/>
    <p:sldId id="294"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CF376E3E-16AD-B220-DB03-D7511C5FAE25}" v="445" dt="2026-06-19T10:18:38.869"/>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6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5236354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8392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68AA45C4-2AC1-8517-1BC6-B4D76161A51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CA1C5246-838D-B804-A56B-BC9B52B15F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D030678B-9A26-414A-24D2-5EADEA30F9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73914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FD84428-22E9-69BE-1247-DAC9A4F92F2E}"/>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B494818E-35DC-30D6-D810-BD81142A85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DFC07E38-1A67-9960-37C7-6BAD9D76F0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0320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7550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70903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699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Poojasawant1211/FarmoAI-Agen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Cloud and Orchestrate</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1184638"/>
              </p:ext>
            </p:extLst>
          </p:nvPr>
        </p:nvGraphicFramePr>
        <p:xfrm>
          <a:off x="1299257" y="2369483"/>
          <a:ext cx="9394989" cy="2756994"/>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1238141">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518853">
                <a:tc>
                  <a:txBody>
                    <a:bodyPr/>
                    <a:lstStyle/>
                    <a:p>
                      <a:pPr marL="0" marR="0" lvl="0" indent="0" algn="l" rtl="0">
                        <a:spcBef>
                          <a:spcPts val="0"/>
                        </a:spcBef>
                        <a:spcAft>
                          <a:spcPts val="0"/>
                        </a:spcAft>
                        <a:buNone/>
                      </a:pPr>
                      <a:r>
                        <a:rPr lang="en-IN" sz="1400" dirty="0" err="1" smtClean="0"/>
                        <a:t>Pooja</a:t>
                      </a:r>
                      <a:r>
                        <a:rPr lang="en-IN" sz="1400" dirty="0" smtClean="0"/>
                        <a:t> </a:t>
                      </a:r>
                      <a:r>
                        <a:rPr lang="en-IN" sz="1400" dirty="0" err="1" smtClean="0"/>
                        <a:t>Shashikant</a:t>
                      </a:r>
                      <a:r>
                        <a:rPr lang="en-IN" sz="1400" dirty="0" smtClean="0"/>
                        <a:t> </a:t>
                      </a:r>
                      <a:r>
                        <a:rPr lang="en-IN" sz="1400" dirty="0" err="1" smtClean="0"/>
                        <a:t>Sawant</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smtClean="0"/>
                        <a:t>sawantpuja435@gmail.com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8007664306</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smtClean="0"/>
              <a:t>– Agriculture</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a:t>
            </a:r>
            <a:r>
              <a:rPr lang="en-US" sz="2400" b="1" dirty="0" smtClean="0"/>
              <a:t>– </a:t>
            </a:r>
            <a:r>
              <a:rPr lang="en-US" sz="2400" b="1" dirty="0" err="1" smtClean="0"/>
              <a:t>FarmoAI</a:t>
            </a:r>
            <a:r>
              <a:rPr lang="en-US" sz="2400" b="1" dirty="0" smtClean="0"/>
              <a:t> Agent</a:t>
            </a:r>
            <a:endParaRPr lang="en-IN" sz="2400" b="1" dirty="0">
              <a:highlight>
                <a:srgbClr val="FFFF00"/>
              </a:highlight>
              <a:latin typeface="+mj-lt"/>
            </a:endParaRPr>
          </a:p>
        </p:txBody>
      </p:sp>
      <p:sp>
        <p:nvSpPr>
          <p:cNvPr id="3" name="TextBox 2">
            <a:extLst>
              <a:ext uri="{FF2B5EF4-FFF2-40B4-BE49-F238E27FC236}">
                <a16:creationId xmlns:a16="http://schemas.microsoft.com/office/drawing/2014/main" xmlns=""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r>
              <a:rPr lang="en-US" sz="2000" dirty="0"/>
              <a:t/>
            </a: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969" y="3725695"/>
            <a:ext cx="1556425" cy="1263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693866"/>
          </a:xfrm>
          <a:prstGeom prst="rect">
            <a:avLst/>
          </a:prstGeom>
          <a:noFill/>
        </p:spPr>
        <p:txBody>
          <a:bodyPr wrap="square" rtlCol="0">
            <a:spAutoFit/>
          </a:bodyPr>
          <a:lstStyle/>
          <a:p>
            <a:pPr fontAlgn="base"/>
            <a:r>
              <a:rPr lang="en-US" b="1" dirty="0"/>
              <a:t>Problem Statement : </a:t>
            </a:r>
            <a:r>
              <a:rPr lang="en-US" b="1" dirty="0" smtClean="0"/>
              <a:t>Farmer Agent</a:t>
            </a:r>
            <a:endParaRPr lang="en-US" dirty="0"/>
          </a:p>
          <a:p>
            <a:pPr fontAlgn="base"/>
            <a:endParaRPr lang="en-US" b="1" dirty="0"/>
          </a:p>
          <a:p>
            <a:pPr fontAlgn="base"/>
            <a:r>
              <a:rPr lang="en-US" b="1" dirty="0"/>
              <a:t>The Challenge</a:t>
            </a:r>
            <a:r>
              <a:rPr lang="en-US" dirty="0"/>
              <a:t> </a:t>
            </a:r>
          </a:p>
          <a:p>
            <a:pPr fontAlgn="base"/>
            <a:r>
              <a:rPr lang="en-US" dirty="0"/>
              <a:t>Agriculture plays a vital role in food production, but farmers often face challenges such as low crop yield, unpredictable weather conditions, pest and disease outbreaks, inefficient resource usage, and limited access to expert agricultural advice. Due to climate change and changing market conditions, farmers need intelligent, real-time, and data-driven solutions to make better farming decisions, reduce losses, and improve productivity.</a:t>
            </a:r>
            <a:endParaRPr lang="en-US" dirty="0"/>
          </a:p>
          <a:p>
            <a:pPr fontAlgn="base"/>
            <a:endParaRPr lang="en-US" dirty="0"/>
          </a:p>
          <a:p>
            <a:pPr fontAlgn="base"/>
            <a:r>
              <a:rPr lang="en-US" b="1" dirty="0"/>
              <a:t>The Objective</a:t>
            </a:r>
            <a:r>
              <a:rPr lang="en-US" dirty="0"/>
              <a:t> </a:t>
            </a:r>
          </a:p>
          <a:p>
            <a:pPr fontAlgn="base"/>
            <a:r>
              <a:rPr lang="en-US" dirty="0"/>
              <a:t>Develop an </a:t>
            </a:r>
            <a:r>
              <a:rPr lang="en-US" b="1" dirty="0"/>
              <a:t>AI-powered Smart Farming Agent</a:t>
            </a:r>
            <a:r>
              <a:rPr lang="en-US" dirty="0"/>
              <a:t> that provides personalized agricultural insights, crop recommendations, disease detection, and sustainable farming guidance for farmers</a:t>
            </a:r>
            <a:r>
              <a:rPr lang="en-US" dirty="0" smtClean="0"/>
              <a:t> .</a:t>
            </a:r>
          </a:p>
          <a:p>
            <a:pPr fontAlgn="base"/>
            <a:r>
              <a:rPr lang="en-US" dirty="0" smtClean="0"/>
              <a:t>The </a:t>
            </a:r>
            <a:r>
              <a:rPr lang="en-US" dirty="0"/>
              <a:t>solution should: </a:t>
            </a:r>
          </a:p>
          <a:p>
            <a:pPr marL="285750" indent="-285750" fontAlgn="base">
              <a:buFont typeface="Arial" panose="020B0604020202020204" pitchFamily="34" charset="0"/>
              <a:buChar char="•"/>
            </a:pPr>
            <a:r>
              <a:rPr lang="en-IN" b="1" dirty="0"/>
              <a:t>Agricultural Knowledge Retrieval (RAG)</a:t>
            </a:r>
            <a:r>
              <a:rPr lang="en-US" dirty="0"/>
              <a:t> – </a:t>
            </a:r>
            <a:r>
              <a:rPr lang="en-US" dirty="0"/>
              <a:t>Use Retrieval-Augmented Generation (RAG</a:t>
            </a:r>
            <a:r>
              <a:rPr lang="en-US" b="1" dirty="0"/>
              <a:t>)</a:t>
            </a:r>
            <a:r>
              <a:rPr lang="en-US" dirty="0"/>
              <a:t> to fetch and summarize reliable agricultural information from trusted sources.</a:t>
            </a:r>
            <a:endParaRPr lang="en-US" dirty="0"/>
          </a:p>
          <a:p>
            <a:pPr marL="285750" indent="-285750" fontAlgn="base">
              <a:buFont typeface="Arial" panose="020B0604020202020204" pitchFamily="34" charset="0"/>
              <a:buChar char="•"/>
            </a:pPr>
            <a:r>
              <a:rPr lang="en-IN" b="1" dirty="0"/>
              <a:t>Weather &amp; Soil Insights</a:t>
            </a:r>
            <a:r>
              <a:rPr lang="en-US" dirty="0" smtClean="0"/>
              <a:t>– </a:t>
            </a:r>
            <a:r>
              <a:rPr lang="en-US" dirty="0"/>
              <a:t>Integrate real-time weather forecasts and soil health information to optimize farm planning and resource management.</a:t>
            </a:r>
            <a:endParaRPr lang="en-US" dirty="0"/>
          </a:p>
          <a:p>
            <a:pPr marL="285750" indent="-285750" fontAlgn="base">
              <a:buFont typeface="Arial" panose="020B0604020202020204" pitchFamily="34" charset="0"/>
              <a:buChar char="•"/>
            </a:pPr>
            <a:r>
              <a:rPr lang="en-IN" b="1" dirty="0"/>
              <a:t>Pest &amp; Disease Detection</a:t>
            </a:r>
            <a:r>
              <a:rPr lang="en-US" dirty="0" smtClean="0"/>
              <a:t>– </a:t>
            </a:r>
            <a:r>
              <a:rPr lang="en-US" dirty="0"/>
              <a:t>Enable multimodal support where farmers can upload crop images for early identification of pests and diseases.</a:t>
            </a:r>
            <a:r>
              <a:rPr lang="en-US" dirty="0"/>
              <a:t> </a:t>
            </a:r>
          </a:p>
          <a:p>
            <a:pPr marL="285750" indent="-285750" fontAlgn="base">
              <a:buFont typeface="Arial" panose="020B0604020202020204" pitchFamily="34" charset="0"/>
              <a:buChar char="•"/>
            </a:pPr>
            <a:r>
              <a:rPr lang="en-IN" b="1" dirty="0"/>
              <a:t>Personalized Farming Advisory</a:t>
            </a:r>
            <a:r>
              <a:rPr lang="en-US" dirty="0"/>
              <a:t> – </a:t>
            </a:r>
            <a:r>
              <a:rPr lang="en-IN" dirty="0"/>
              <a:t>Provide customized farming recommendations</a:t>
            </a:r>
            <a:r>
              <a:rPr lang="en-US" dirty="0" smtClean="0"/>
              <a:t>.</a:t>
            </a:r>
            <a:r>
              <a:rPr lang="en-US" dirty="0"/>
              <a:t> </a:t>
            </a:r>
          </a:p>
          <a:p>
            <a:pPr marL="285750" indent="-285750" fontAlgn="base">
              <a:buFont typeface="Arial" panose="020B0604020202020204" pitchFamily="34" charset="0"/>
              <a:buChar char="•"/>
            </a:pPr>
            <a:r>
              <a:rPr lang="en-IN" b="1" dirty="0"/>
              <a:t>Market &amp; Cost Optimization</a:t>
            </a:r>
            <a:r>
              <a:rPr lang="en-US" dirty="0" smtClean="0"/>
              <a:t>–</a:t>
            </a:r>
            <a:r>
              <a:rPr lang="en-US" dirty="0"/>
              <a:t> </a:t>
            </a:r>
            <a:r>
              <a:rPr lang="en-US" dirty="0"/>
              <a:t>Provide farmers with market insights and cost-effective farming recommendations.</a:t>
            </a:r>
            <a:endParaRPr lang="en-US" dirty="0"/>
          </a:p>
          <a:p>
            <a:pPr marL="285750" indent="-285750" fontAlgn="base">
              <a:buFont typeface="Arial" panose="020B0604020202020204" pitchFamily="34" charset="0"/>
              <a:buChar char="•"/>
            </a:pPr>
            <a:r>
              <a:rPr lang="en-IN" b="1" dirty="0"/>
              <a:t>Multi-Agent System</a:t>
            </a:r>
            <a:r>
              <a:rPr lang="en-IN" dirty="0"/>
              <a:t>(Provides crop-specific farming recommendations</a:t>
            </a:r>
            <a:r>
              <a:rPr lang="en-IN" dirty="0" smtClean="0"/>
              <a:t>.)</a:t>
            </a:r>
            <a:endParaRPr lang="en-US" dirty="0"/>
          </a:p>
          <a:p>
            <a:pPr marL="285750" indent="-285750" fontAlgn="base">
              <a:buFont typeface="Arial" panose="020B0604020202020204" pitchFamily="34" charset="0"/>
              <a:buChar char="•"/>
            </a:pPr>
            <a:r>
              <a:rPr lang="en-IN" b="1" dirty="0"/>
              <a:t>Visualization </a:t>
            </a:r>
            <a:r>
              <a:rPr lang="en-IN" b="1" dirty="0" smtClean="0"/>
              <a:t>Dashboard</a:t>
            </a:r>
            <a:r>
              <a:rPr lang="en-IN" dirty="0" smtClean="0"/>
              <a:t>(</a:t>
            </a:r>
            <a:r>
              <a:rPr lang="en-US" dirty="0"/>
              <a:t>Provide an interactive dashboard to </a:t>
            </a:r>
            <a:r>
              <a:rPr lang="en-US" dirty="0" smtClean="0"/>
              <a:t>monitor)</a:t>
            </a:r>
            <a:endParaRPr lang="en-US" dirty="0"/>
          </a:p>
          <a:p>
            <a:pPr fontAlgn="base"/>
            <a:endParaRPr lang="en-US" dirty="0"/>
          </a:p>
          <a:p>
            <a:pPr fontAlgn="base"/>
            <a:endParaRPr lang="en-US" dirty="0"/>
          </a:p>
          <a:p>
            <a:endParaRPr lang="en-IN" dirty="0" smtClean="0"/>
          </a:p>
          <a:p>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72775"/>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US" b="1" dirty="0"/>
              <a:t>Proposed Solution: AI-Powered </a:t>
            </a:r>
            <a:r>
              <a:rPr lang="en-US" b="1" dirty="0" smtClean="0"/>
              <a:t>farmer</a:t>
            </a:r>
            <a:r>
              <a:rPr lang="en-US" b="1" dirty="0" smtClean="0"/>
              <a:t> Agent (</a:t>
            </a:r>
            <a:r>
              <a:rPr lang="en-US" b="1" dirty="0" err="1" smtClean="0"/>
              <a:t>FarmoAI</a:t>
            </a:r>
            <a:r>
              <a:rPr lang="en-US" b="1" dirty="0" smtClean="0"/>
              <a:t> Agent)</a:t>
            </a:r>
            <a:endParaRPr lang="en-US" b="1" dirty="0"/>
          </a:p>
          <a:p>
            <a:r>
              <a:rPr lang="en-US" dirty="0"/>
              <a:t>The proposed solution is a </a:t>
            </a:r>
            <a:r>
              <a:rPr lang="en-US" b="1" dirty="0"/>
              <a:t>multi-agent AI-powered </a:t>
            </a:r>
            <a:r>
              <a:rPr lang="en-US" b="1" dirty="0" err="1"/>
              <a:t>FarmoAI</a:t>
            </a:r>
            <a:r>
              <a:rPr lang="en-US" b="1" dirty="0"/>
              <a:t> Agent</a:t>
            </a:r>
            <a:r>
              <a:rPr lang="en-US" dirty="0"/>
              <a:t> built using </a:t>
            </a:r>
            <a:r>
              <a:rPr lang="en-US" b="1" dirty="0"/>
              <a:t>IBM </a:t>
            </a:r>
            <a:r>
              <a:rPr lang="en-US" b="1" dirty="0" err="1"/>
              <a:t>LangFlow</a:t>
            </a:r>
            <a:r>
              <a:rPr lang="en-US" b="1" dirty="0"/>
              <a:t>, IBM watsonx.ai, and Granite Models</a:t>
            </a:r>
            <a:r>
              <a:rPr lang="en-US" dirty="0"/>
              <a:t> to provide personalized, real-time, and data-driven farming guidance. The system addresses challenges such as crop selection, weather uncertainty, pest and disease management, inefficient resource utilization, and limited access to expert agricultural advice through an intelligent and modular architecture.</a:t>
            </a:r>
            <a:endParaRPr lang="en-US" dirty="0"/>
          </a:p>
          <a:p>
            <a:r>
              <a:rPr lang="en-US" dirty="0"/>
              <a:t>At its core, the solution uses a </a:t>
            </a:r>
            <a:r>
              <a:rPr lang="en-US" b="1" dirty="0"/>
              <a:t>Retrieval-Augmented Generation (RAG) pipeline</a:t>
            </a:r>
            <a:r>
              <a:rPr lang="en-US" dirty="0"/>
              <a:t> to fetch accurate agricultural knowledge from trusted sources such as ICAR guidelines, government agricultural advisories, crop cultivation manuals, and soil management </a:t>
            </a:r>
            <a:r>
              <a:rPr lang="en-US" dirty="0" smtClean="0"/>
              <a:t>resources.</a:t>
            </a:r>
            <a:endParaRPr lang="en-US" dirty="0"/>
          </a:p>
          <a:p>
            <a:r>
              <a:rPr lang="en-US" dirty="0"/>
              <a:t>The system consists of four key agents:</a:t>
            </a:r>
          </a:p>
          <a:p>
            <a:r>
              <a:rPr lang="en-US" b="1" dirty="0"/>
              <a:t>Crop Advisory Agent</a:t>
            </a:r>
            <a:r>
              <a:rPr lang="en-US" dirty="0"/>
              <a:t> retrieves and analyzes agricultural knowledge using </a:t>
            </a:r>
            <a:r>
              <a:rPr lang="en-US" dirty="0" smtClean="0"/>
              <a:t>RAG.</a:t>
            </a:r>
            <a:r>
              <a:rPr lang="en-US" dirty="0" smtClean="0"/>
              <a:t> </a:t>
            </a:r>
            <a:endParaRPr lang="en-US" dirty="0"/>
          </a:p>
          <a:p>
            <a:r>
              <a:rPr lang="en-US" b="1" dirty="0"/>
              <a:t>Weather &amp; Irrigation Agent</a:t>
            </a:r>
            <a:r>
              <a:rPr lang="en-US" dirty="0"/>
              <a:t> integrates real-time weather forecasts and soil health data to optimize farm planning. It analyzes temperature, rainfall, humidity, and soil moisture conditions to provide irrigation schedules, weather alerts, and water management recommendations.</a:t>
            </a:r>
            <a:endParaRPr lang="en-US" dirty="0"/>
          </a:p>
          <a:p>
            <a:r>
              <a:rPr lang="en-US" b="1" dirty="0"/>
              <a:t>Pest/Disease Detection Agent</a:t>
            </a:r>
            <a:r>
              <a:rPr lang="en-US" dirty="0"/>
              <a:t> enables multimodal crop monitoring where farmers can upload crop or leaf images. The agent uses image analysis capabilities to identify diseases, </a:t>
            </a:r>
            <a:r>
              <a:rPr lang="en-US" dirty="0" smtClean="0"/>
              <a:t>pests.</a:t>
            </a:r>
          </a:p>
          <a:p>
            <a:r>
              <a:rPr lang="en-US" b="1" dirty="0"/>
              <a:t>Market Insights Agent</a:t>
            </a:r>
            <a:r>
              <a:rPr lang="en-US" dirty="0"/>
              <a:t> analyzes crop market trends, demand patterns, and pricing information to help farmers make profitable </a:t>
            </a:r>
            <a:r>
              <a:rPr lang="en-US" dirty="0" smtClean="0"/>
              <a:t>decisions.</a:t>
            </a:r>
            <a:endParaRPr lang="en-US" dirty="0"/>
          </a:p>
          <a:p>
            <a:r>
              <a:rPr lang="en-US" dirty="0"/>
              <a:t>The solution includes a </a:t>
            </a:r>
            <a:r>
              <a:rPr lang="en-US" b="1" dirty="0"/>
              <a:t>user-friendly smart farming dashboard</a:t>
            </a:r>
            <a:r>
              <a:rPr lang="en-US" dirty="0"/>
              <a:t> (built with </a:t>
            </a:r>
            <a:r>
              <a:rPr lang="en-US" dirty="0" err="1"/>
              <a:t>Streamlit</a:t>
            </a:r>
            <a:r>
              <a:rPr lang="en-US" dirty="0"/>
              <a:t> or React) that visualizes crop health status, weather updates, soil conditions, irrigation schedules, fertilizer usage, pest alerts, and market price trends. This enables farmers to monitor their farm performance and make informed decisions.</a:t>
            </a: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a:t>
            </a:r>
            <a:r>
              <a:rPr lang="en-US" sz="1800" dirty="0" err="1"/>
              <a:t>embeddings</a:t>
            </a:r>
            <a:r>
              <a:rPr lang="en-US" sz="1800" dirty="0"/>
              <a:t>,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Orchestrate 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5478423"/>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a:t>
            </a:r>
            <a:r>
              <a:rPr lang="en-US" dirty="0" smtClean="0"/>
              <a:t>text/image</a:t>
            </a:r>
            <a:r>
              <a:rPr lang="en-US" dirty="0"/>
              <a:t>).</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a:t>
            </a:r>
            <a:r>
              <a:rPr lang="en-US" b="1" dirty="0" smtClean="0"/>
              <a:t>)</a:t>
            </a:r>
            <a:r>
              <a:rPr lang="en-US" b="1" dirty="0">
                <a:highlight>
                  <a:srgbClr val="FFFF00"/>
                </a:highlight>
              </a:rPr>
              <a:t> </a:t>
            </a:r>
            <a:r>
              <a:rPr lang="en-US" dirty="0"/>
              <a:t>File component - Stores and retrieves user data, meal logs, and nutritional datasets for analysis and tracking.</a:t>
            </a:r>
          </a:p>
          <a:p>
            <a:endParaRPr lang="en-US" dirty="0">
              <a:highlight>
                <a:srgbClr val="FFFF00"/>
              </a:highlight>
            </a:endParaRPr>
          </a:p>
          <a:p>
            <a:endParaRPr lang="en-US" dirty="0"/>
          </a:p>
          <a:p>
            <a:endParaRPr lang="en-US" dirty="0"/>
          </a:p>
          <a:p>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Agent Instructions Screenshot-</a:t>
            </a:r>
            <a:endParaRPr sz="2400" b="1">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138" y="1095635"/>
            <a:ext cx="10058400" cy="503279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D458060A-E278-BD66-87FB-2E75164BF6AB}"/>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4B8BE564-07ED-5E4D-A85D-C78B8A391EE9}"/>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pPr>
              <a:buClr>
                <a:srgbClr val="051D3A"/>
              </a:buClr>
              <a:buSzPts val="3500"/>
            </a:pPr>
            <a:r>
              <a:rPr lang="en-US" sz="2400" b="1">
                <a:sym typeface="Times New Roman"/>
              </a:rPr>
              <a:t>Document Uploaded Screenshot (If applicable)-</a:t>
            </a:r>
            <a:endParaRPr sz="2400" b="1" dirty="0">
              <a:sym typeface="Times New Roma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4648" y="1072945"/>
            <a:ext cx="7131417" cy="5315223"/>
          </a:xfrm>
          <a:prstGeom prst="rect">
            <a:avLst/>
          </a:prstGeom>
        </p:spPr>
      </p:pic>
    </p:spTree>
    <p:extLst>
      <p:ext uri="{BB962C8B-B14F-4D97-AF65-F5344CB8AC3E}">
        <p14:creationId xmlns:p14="http://schemas.microsoft.com/office/powerpoint/2010/main" val="755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a:sym typeface="Times New Roman"/>
              </a:rPr>
              <a:t>Prompt with output Screenshot: </a:t>
            </a:r>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854" y="1173944"/>
            <a:ext cx="4210266" cy="505486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4382" y="1173944"/>
            <a:ext cx="3892750" cy="5073911"/>
          </a:xfrm>
          <a:prstGeom prst="rect">
            <a:avLst/>
          </a:prstGeom>
        </p:spPr>
      </p:pic>
    </p:spTree>
    <p:extLst>
      <p:ext uri="{BB962C8B-B14F-4D97-AF65-F5344CB8AC3E}">
        <p14:creationId xmlns:p14="http://schemas.microsoft.com/office/powerpoint/2010/main" val="3146073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1850" y="4562475"/>
            <a:ext cx="10515600" cy="242989"/>
          </a:xfrm>
        </p:spPr>
        <p:txBody>
          <a:bodyPr>
            <a:normAutofit fontScale="90000"/>
          </a:bodyPr>
          <a:lstStyle/>
          <a:p>
            <a:endParaRPr lang="en-IN" dirty="0"/>
          </a:p>
        </p:txBody>
      </p:sp>
      <p:sp>
        <p:nvSpPr>
          <p:cNvPr id="3" name="Text Placeholder 2"/>
          <p:cNvSpPr>
            <a:spLocks noGrp="1"/>
          </p:cNvSpPr>
          <p:nvPr>
            <p:ph type="body" idx="1"/>
          </p:nvPr>
        </p:nvSpPr>
        <p:spPr>
          <a:xfrm>
            <a:off x="754029" y="3305412"/>
            <a:ext cx="10515600" cy="1500187"/>
          </a:xfrm>
        </p:spPr>
        <p:txBody>
          <a:bodyPr/>
          <a:lstStyle/>
          <a:p>
            <a:endParaRPr lang="en-IN"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08" y="989118"/>
            <a:ext cx="4210266" cy="505486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6234" y="989118"/>
            <a:ext cx="4972306" cy="5054860"/>
          </a:xfrm>
          <a:prstGeom prst="rect">
            <a:avLst/>
          </a:prstGeom>
        </p:spPr>
      </p:pic>
    </p:spTree>
    <p:extLst>
      <p:ext uri="{BB962C8B-B14F-4D97-AF65-F5344CB8AC3E}">
        <p14:creationId xmlns:p14="http://schemas.microsoft.com/office/powerpoint/2010/main" val="158657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BC1F377F-D2E8-46B5-C7F3-C58589F456D4}"/>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189D03E3-C782-BAA0-25CD-AC8F93A156A1}"/>
              </a:ext>
            </a:extLst>
          </p:cNvPr>
          <p:cNvSpPr/>
          <p:nvPr/>
        </p:nvSpPr>
        <p:spPr>
          <a:xfrm>
            <a:off x="537590" y="381112"/>
            <a:ext cx="7616194" cy="390635"/>
          </a:xfrm>
          <a:prstGeom prst="rect">
            <a:avLst/>
          </a:prstGeom>
          <a:noFill/>
          <a:ln>
            <a:noFill/>
          </a:ln>
        </p:spPr>
        <p:txBody>
          <a:bodyPr spcFirstLastPara="1" wrap="square" lIns="0" tIns="0" rIns="0" bIns="0" anchor="t" anchorCtr="0">
            <a:noAutofit/>
          </a:bodyPr>
          <a:lstStyle/>
          <a:p>
            <a:r>
              <a:rPr lang="en-US" sz="2400" b="1" dirty="0">
                <a:sym typeface="Times New Roman"/>
              </a:rPr>
              <a:t> </a:t>
            </a:r>
            <a:endParaRPr lang="en-US"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4689" y="963038"/>
            <a:ext cx="10058400" cy="4965693"/>
          </a:xfrm>
          <a:prstGeom prst="rect">
            <a:avLst/>
          </a:prstGeom>
        </p:spPr>
      </p:pic>
    </p:spTree>
    <p:extLst>
      <p:ext uri="{BB962C8B-B14F-4D97-AF65-F5344CB8AC3E}">
        <p14:creationId xmlns:p14="http://schemas.microsoft.com/office/powerpoint/2010/main" val="3342156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US" sz="2400" b="1" dirty="0">
                <a:solidFill>
                  <a:schemeClr val="dk1"/>
                </a:solidFill>
                <a:latin typeface="Calibri"/>
                <a:ea typeface="Calibri"/>
                <a:cs typeface="Calibri"/>
                <a:sym typeface="Calibri"/>
              </a:rPr>
              <a:t>Orchestrate architecture blueprint</a:t>
            </a:r>
            <a:endParaRPr lang="en-US" sz="2400" dirty="0">
              <a:solidFill>
                <a:schemeClr val="dk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5957" y="950068"/>
            <a:ext cx="9601200" cy="57717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xmlns=""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IN" b="1" dirty="0"/>
              <a:t>Role of </a:t>
            </a:r>
            <a:r>
              <a:rPr lang="en-IN" b="1" dirty="0" err="1"/>
              <a:t>Agentic</a:t>
            </a:r>
            <a:r>
              <a:rPr lang="en-IN" b="1" dirty="0"/>
              <a:t> AI in </a:t>
            </a:r>
            <a:r>
              <a:rPr lang="en-IN" b="1" dirty="0" err="1"/>
              <a:t>FarmoAI</a:t>
            </a:r>
            <a:r>
              <a:rPr lang="en-IN" b="1" dirty="0"/>
              <a:t> Agent</a:t>
            </a:r>
            <a:endParaRPr lang="en-US" b="1" dirty="0"/>
          </a:p>
          <a:p>
            <a:r>
              <a:rPr lang="en-US" dirty="0" err="1"/>
              <a:t>Agentic</a:t>
            </a:r>
            <a:r>
              <a:rPr lang="en-US" dirty="0"/>
              <a:t> AI enables the </a:t>
            </a:r>
            <a:r>
              <a:rPr lang="en-US" b="1" dirty="0" err="1"/>
              <a:t>FarmoAI</a:t>
            </a:r>
            <a:r>
              <a:rPr lang="en-US" b="1" dirty="0"/>
              <a:t> Agent</a:t>
            </a:r>
            <a:r>
              <a:rPr lang="en-US" dirty="0"/>
              <a:t> to work as an intelligent, autonomous farming assistant rather than a basic information </a:t>
            </a:r>
            <a:r>
              <a:rPr lang="en-US" dirty="0" err="1"/>
              <a:t>chatbot</a:t>
            </a:r>
            <a:r>
              <a:rPr lang="en-US" dirty="0"/>
              <a:t>. Using </a:t>
            </a:r>
            <a:r>
              <a:rPr lang="en-US" b="1" dirty="0"/>
              <a:t>IBM watsonx.ai and IBM Granite models</a:t>
            </a:r>
            <a:r>
              <a:rPr lang="en-US" dirty="0"/>
              <a:t>, it coordinates multiple specialized agents to provide farmers with accurate, personalized, and real-time agricultural guidance</a:t>
            </a:r>
            <a:r>
              <a:rPr lang="en-US" dirty="0" smtClean="0"/>
              <a:t>.</a:t>
            </a:r>
          </a:p>
          <a:p>
            <a:r>
              <a:rPr lang="en-US" dirty="0"/>
              <a:t>Each agent performs a specific role—such as </a:t>
            </a:r>
            <a:r>
              <a:rPr lang="en-US" b="1" dirty="0"/>
              <a:t>crop recommendation, soil analysis, weather monitoring, pest and disease detection, irrigation management, and market price analysis</a:t>
            </a:r>
            <a:r>
              <a:rPr lang="en-US" dirty="0"/>
              <a:t>—while collaborating with other agents to solve farming-related problems efficiently. This multi-agent approach helps farmers make better decisions and improve productivity</a:t>
            </a:r>
            <a:r>
              <a:rPr lang="en-US" dirty="0" smtClean="0"/>
              <a:t>.</a:t>
            </a:r>
          </a:p>
          <a:p>
            <a:r>
              <a:rPr lang="en-US" dirty="0" err="1"/>
              <a:t>Agentic</a:t>
            </a:r>
            <a:r>
              <a:rPr lang="en-US" dirty="0"/>
              <a:t> AI provides </a:t>
            </a:r>
            <a:r>
              <a:rPr lang="en-US" b="1" dirty="0"/>
              <a:t>context awareness</a:t>
            </a:r>
            <a:r>
              <a:rPr lang="en-US" dirty="0"/>
              <a:t> by understanding important factors such as soil type, crop history, location, climate conditions, farming practices, and farmer goals. Based on this information, </a:t>
            </a:r>
            <a:r>
              <a:rPr lang="en-US" dirty="0" err="1"/>
              <a:t>FarmoAI</a:t>
            </a:r>
            <a:r>
              <a:rPr lang="en-US" dirty="0"/>
              <a:t> generates customized recommendations for crop selection, fertilizer usage, water management, and disease prevention.</a:t>
            </a:r>
          </a:p>
          <a:p>
            <a:r>
              <a:rPr lang="en-US" dirty="0"/>
              <a:t>It also supports </a:t>
            </a:r>
            <a:r>
              <a:rPr lang="en-US" b="1" dirty="0"/>
              <a:t>real-time adaptation</a:t>
            </a:r>
            <a:r>
              <a:rPr lang="en-US" dirty="0"/>
              <a:t> by continuously updating suggestions based on changing conditions such as weather updates, soil moisture levels, crop growth stages, and new farmer inputs.</a:t>
            </a:r>
          </a:p>
          <a:p>
            <a:r>
              <a:rPr lang="en-US" dirty="0"/>
              <a:t>Overall, </a:t>
            </a:r>
            <a:r>
              <a:rPr lang="en-US" dirty="0" err="1"/>
              <a:t>Agentic</a:t>
            </a:r>
            <a:r>
              <a:rPr lang="en-US" dirty="0"/>
              <a:t> AI transforms </a:t>
            </a:r>
            <a:r>
              <a:rPr lang="en-US" b="1" dirty="0" err="1"/>
              <a:t>FarmoAI</a:t>
            </a:r>
            <a:r>
              <a:rPr lang="en-US" b="1" dirty="0"/>
              <a:t> Agent</a:t>
            </a:r>
            <a:r>
              <a:rPr lang="en-US" dirty="0"/>
              <a:t> into a proactive, personalized, and goal-driven smart farming companion that assists farmers in increasing yield, reducing resource wastage, and promoting sustainable agriculture.</a:t>
            </a:r>
          </a:p>
          <a:p>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6175" y="1429966"/>
            <a:ext cx="3738534" cy="39202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777240" y="1207008"/>
            <a:ext cx="11301984" cy="5847755"/>
          </a:xfrm>
          <a:prstGeom prst="rect">
            <a:avLst/>
          </a:prstGeom>
          <a:noFill/>
        </p:spPr>
        <p:txBody>
          <a:bodyPr wrap="square" rtlCol="0">
            <a:spAutoFit/>
          </a:bodyPr>
          <a:lstStyle/>
          <a:p>
            <a:r>
              <a:rPr lang="en-US" sz="1800" dirty="0"/>
              <a:t>The proposed </a:t>
            </a:r>
            <a:r>
              <a:rPr lang="en-US" sz="1800" b="1" dirty="0" err="1"/>
              <a:t>FarmoAI</a:t>
            </a:r>
            <a:r>
              <a:rPr lang="en-US" sz="1800" b="1" dirty="0"/>
              <a:t> Agent</a:t>
            </a:r>
            <a:r>
              <a:rPr lang="en-US" sz="1800" dirty="0"/>
              <a:t> stands out by combining </a:t>
            </a:r>
            <a:r>
              <a:rPr lang="en-US" sz="1800" b="1" dirty="0" err="1"/>
              <a:t>Agentic</a:t>
            </a:r>
            <a:r>
              <a:rPr lang="en-US" sz="1800" b="1" dirty="0"/>
              <a:t> AI, RAG, and personalized farming intelligence</a:t>
            </a:r>
            <a:r>
              <a:rPr lang="en-US" sz="1800" dirty="0"/>
              <a:t> into a single smart agricultural system.</a:t>
            </a:r>
            <a:endParaRPr lang="en-IN" sz="1800" dirty="0"/>
          </a:p>
          <a:p>
            <a:endParaRPr lang="en-IN" sz="1800" dirty="0"/>
          </a:p>
          <a:p>
            <a:r>
              <a:rPr lang="en-US" sz="1800" b="1" dirty="0"/>
              <a:t>Multi-Agent Intelligence</a:t>
            </a:r>
            <a:r>
              <a:rPr lang="en-US" sz="1800" dirty="0"/>
              <a:t> – Instead of a basic farming </a:t>
            </a:r>
            <a:r>
              <a:rPr lang="en-US" sz="1800" dirty="0" err="1"/>
              <a:t>chatbot</a:t>
            </a:r>
            <a:r>
              <a:rPr lang="en-US" sz="1800" dirty="0"/>
              <a:t>, multiple specialized AI agents collaborate to provide accurate and context-aware solutions. </a:t>
            </a:r>
            <a:endParaRPr lang="en-US" sz="1800" b="1" dirty="0" smtClean="0"/>
          </a:p>
          <a:p>
            <a:r>
              <a:rPr lang="en-US" sz="1800" b="1" dirty="0" smtClean="0"/>
              <a:t>RAG-Based </a:t>
            </a:r>
            <a:r>
              <a:rPr lang="en-US" sz="1800" b="1" dirty="0"/>
              <a:t>Accuracy</a:t>
            </a:r>
            <a:r>
              <a:rPr lang="en-US" sz="1800" dirty="0"/>
              <a:t> – Integrates AI generation with reliable agricultural knowledge sources, enabling </a:t>
            </a:r>
            <a:r>
              <a:rPr lang="en-US" sz="1800" dirty="0" err="1"/>
              <a:t>FarmoAI</a:t>
            </a:r>
            <a:r>
              <a:rPr lang="en-US" sz="1800" dirty="0"/>
              <a:t> to provide evidence-based recommendations while reducing incorrect farming advice.</a:t>
            </a:r>
            <a:endParaRPr lang="en-IN" sz="1800" dirty="0"/>
          </a:p>
          <a:p>
            <a:r>
              <a:rPr lang="en-US" sz="1800" b="1" dirty="0"/>
              <a:t>Hyper-Personalized Farming Guidance</a:t>
            </a:r>
            <a:r>
              <a:rPr lang="en-US" sz="1800" dirty="0"/>
              <a:t> – Generates customized recommendations based on factors like soil type, crop selection, location, climate conditions, farming methods, and farmer objectives.</a:t>
            </a:r>
            <a:endParaRPr lang="en-IN" sz="1800" dirty="0"/>
          </a:p>
          <a:p>
            <a:r>
              <a:rPr lang="en-US" sz="1800" b="1" dirty="0"/>
              <a:t>Real-Time Feedback Loop</a:t>
            </a:r>
            <a:r>
              <a:rPr lang="en-US" sz="1800" dirty="0"/>
              <a:t> – Continuously improves suggestions by analyzing real-time inputs such as weather changes, soil moisture levels, crop growth updates, and farmer feedback.</a:t>
            </a:r>
            <a:endParaRPr lang="en-IN" sz="1800" dirty="0"/>
          </a:p>
          <a:p>
            <a:r>
              <a:rPr lang="en-US" sz="1800" b="1" dirty="0"/>
              <a:t>Multi-Modal Input</a:t>
            </a:r>
            <a:r>
              <a:rPr lang="en-US" sz="1800" dirty="0"/>
              <a:t> – Supports different input methods including text queries, voice interaction, and crop image analysis for detecting plant diseases and improving accessibility for farmers</a:t>
            </a:r>
            <a:r>
              <a:rPr lang="en-US" sz="1800" dirty="0" smtClean="0"/>
              <a:t>.</a:t>
            </a:r>
          </a:p>
          <a:p>
            <a:r>
              <a:rPr lang="en-US" sz="1800" b="1" dirty="0"/>
              <a:t>Sustainable Agriculture Focus</a:t>
            </a:r>
            <a:r>
              <a:rPr lang="en-US" sz="1800" dirty="0"/>
              <a:t> – Helps farmers optimize water usage, fertilizer application, pest control, and resource management to increase productivity while promoting eco-friendly farming practices</a:t>
            </a:r>
            <a:r>
              <a:rPr lang="en-US" sz="1800" dirty="0" smtClean="0"/>
              <a:t>.</a:t>
            </a:r>
          </a:p>
          <a:p>
            <a:endParaRPr lang="en-US" sz="1800" dirty="0" smtClean="0"/>
          </a:p>
          <a:p>
            <a:r>
              <a:rPr lang="en-US" sz="1800" dirty="0" err="1"/>
              <a:t>FarmoAI</a:t>
            </a:r>
            <a:r>
              <a:rPr lang="en-US" sz="1800" dirty="0"/>
              <a:t> Agent transforms traditional farming into smart, data-driven agriculture by acting as an intelligent digital farming assistant that helps farmers make proactive decisions, improve crop yield, reduce costs, and achieve sustainable growth.</a:t>
            </a:r>
          </a:p>
          <a:p>
            <a:endParaRPr lang="en-IN"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IN" sz="2000" dirty="0" err="1"/>
              <a:t>GitHub</a:t>
            </a:r>
            <a:r>
              <a:rPr lang="en-IN" sz="2000" dirty="0"/>
              <a:t>: </a:t>
            </a:r>
            <a:r>
              <a:rPr lang="en-IN" sz="2000" b="1" dirty="0" err="1"/>
              <a:t>FarmoAI</a:t>
            </a:r>
            <a:r>
              <a:rPr lang="en-IN" sz="2000" b="1" dirty="0"/>
              <a:t> Agent</a:t>
            </a:r>
            <a:r>
              <a:rPr lang="en-IN" sz="2000" dirty="0"/>
              <a:t/>
            </a:r>
            <a:br>
              <a:rPr lang="en-IN" sz="2000" dirty="0"/>
            </a:br>
            <a:r>
              <a:rPr lang="en-IN" sz="2000" dirty="0"/>
              <a:t>🔗 </a:t>
            </a:r>
            <a:r>
              <a:rPr lang="en-IN" sz="2000" dirty="0">
                <a:hlinkClick r:id="rId3"/>
              </a:rPr>
              <a:t>https://github.com/Poojasawant1211/FarmoAI-Agent</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38180"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31218" y="51769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364639"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00" dirty="0" smtClean="0">
                <a:latin typeface="+mj-lt"/>
                <a:cs typeface="Times New Roman" panose="02020603050405020304" pitchFamily="18" charset="0"/>
              </a:rPr>
              <a:t> </a:t>
            </a:r>
            <a:r>
              <a:rPr lang="en-US" sz="1800" b="1" dirty="0" smtClean="0">
                <a:latin typeface="+mj-lt"/>
                <a:cs typeface="Times New Roman" panose="02020603050405020304" pitchFamily="18" charset="0"/>
              </a:rPr>
              <a:t>1.AI-Powered </a:t>
            </a:r>
            <a:r>
              <a:rPr lang="en-US" sz="1800" b="1" dirty="0">
                <a:latin typeface="+mj-lt"/>
                <a:cs typeface="Times New Roman" panose="02020603050405020304" pitchFamily="18" charset="0"/>
              </a:rPr>
              <a:t>Voice Assistant &amp; Multilingual Support –</a:t>
            </a:r>
            <a:r>
              <a:rPr lang="en-US" sz="1800" b="1" i="0" u="none" strike="noStrike" cap="none" dirty="0" smtClean="0">
                <a:solidFill>
                  <a:srgbClr val="2B3541"/>
                </a:solidFill>
                <a:latin typeface="+mj-lt"/>
                <a:ea typeface="Times New Roman"/>
                <a:cs typeface="Times New Roman" panose="02020603050405020304" pitchFamily="18" charset="0"/>
                <a:sym typeface="Times New Roman"/>
              </a:rPr>
              <a:t> </a:t>
            </a:r>
            <a:endParaRPr lang="en-US" sz="1800" b="1" dirty="0">
              <a:solidFill>
                <a:srgbClr val="2B3541"/>
              </a:solidFill>
              <a:latin typeface="+mj-lt"/>
              <a:ea typeface="Times New Roman"/>
              <a:cs typeface="Times New Roman" panose="02020603050405020304" pitchFamily="18" charset="0"/>
              <a:sym typeface="Times New Roman"/>
            </a:endParaRPr>
          </a:p>
          <a:p>
            <a:pPr lvl="0">
              <a:lnSpc>
                <a:spcPct val="162162"/>
              </a:lnSpc>
              <a:buClr>
                <a:srgbClr val="2B3541"/>
              </a:buClr>
              <a:buSzPts val="1850"/>
            </a:pPr>
            <a:r>
              <a:rPr lang="en-US" sz="1600" dirty="0"/>
              <a:t>Enhancing the system with a voice-enabled AI assistant and support for multiple regional languages will improve accessibility for farmers. Users can interact naturally in their preferred language to receive farming advice, crop recommendations, pest control solutions, and market updates, making </a:t>
            </a:r>
            <a:r>
              <a:rPr lang="en-US" sz="1600" dirty="0" err="1"/>
              <a:t>FarmoAI</a:t>
            </a:r>
            <a:r>
              <a:rPr lang="en-US" sz="1600" dirty="0"/>
              <a:t> more inclusive and useful for farmers across diverse regions</a:t>
            </a:r>
            <a:r>
              <a:rPr lang="en-US" sz="2000" dirty="0"/>
              <a:t>.</a:t>
            </a:r>
            <a:endParaRPr lang="en-US" sz="1850" b="0" i="0" u="none" strike="noStrike" cap="none" dirty="0">
              <a:solidFill>
                <a:srgbClr val="2B3541"/>
              </a:solidFill>
              <a:latin typeface="Times New Roman" panose="02020603050405020304" pitchFamily="18" charset="0"/>
              <a:ea typeface="Times New Roman"/>
              <a:cs typeface="Times New Roman" panose="02020603050405020304" pitchFamily="18" charset="0"/>
              <a:sym typeface="Times New Roman"/>
            </a:endParaRPr>
          </a:p>
          <a:p>
            <a:pPr lvl="0">
              <a:lnSpc>
                <a:spcPct val="162162"/>
              </a:lnSpc>
              <a:buClr>
                <a:srgbClr val="2B3541"/>
              </a:buClr>
              <a:buSzPts val="1850"/>
            </a:pPr>
            <a:r>
              <a:rPr lang="en-US" sz="1850" b="1" dirty="0" smtClean="0">
                <a:solidFill>
                  <a:srgbClr val="2B3541"/>
                </a:solidFill>
                <a:latin typeface="Times New Roman"/>
                <a:ea typeface="Times New Roman"/>
                <a:cs typeface="Times New Roman"/>
                <a:sym typeface="Times New Roman"/>
              </a:rPr>
              <a:t>2.</a:t>
            </a:r>
            <a:r>
              <a:rPr lang="en-US" sz="2000" dirty="0"/>
              <a:t> </a:t>
            </a:r>
            <a:r>
              <a:rPr lang="en-US" sz="1800" b="1" dirty="0">
                <a:latin typeface="+mj-lt"/>
              </a:rPr>
              <a:t>Drone-Based Crop </a:t>
            </a:r>
            <a:r>
              <a:rPr lang="en-US" sz="1800" b="1" dirty="0" smtClean="0">
                <a:latin typeface="+mj-lt"/>
              </a:rPr>
              <a:t>Monitoring –</a:t>
            </a:r>
            <a:endParaRPr lang="en-US" sz="1800" b="1" i="0" u="none" strike="noStrike" cap="none" dirty="0">
              <a:solidFill>
                <a:srgbClr val="2B3541"/>
              </a:solidFill>
              <a:latin typeface="+mj-lt"/>
              <a:ea typeface="Times New Roman"/>
              <a:cs typeface="Times New Roman"/>
              <a:sym typeface="Times New Roman"/>
            </a:endParaRPr>
          </a:p>
          <a:p>
            <a:pPr lvl="0">
              <a:lnSpc>
                <a:spcPct val="162162"/>
              </a:lnSpc>
              <a:buClr>
                <a:srgbClr val="2B3541"/>
              </a:buClr>
              <a:buSzPts val="1850"/>
            </a:pPr>
            <a:r>
              <a:rPr lang="en-US" sz="1600" dirty="0"/>
              <a:t>Future integration with agricultural drones and computer vision technology can help </a:t>
            </a:r>
            <a:r>
              <a:rPr lang="en-US" sz="1600" dirty="0" err="1"/>
              <a:t>FarmoAI</a:t>
            </a:r>
            <a:r>
              <a:rPr lang="en-US" sz="1600" dirty="0"/>
              <a:t> analyze aerial crop images to detect diseases, nutrient deficiencies, weed growth, and crop stress at an early stage, enabling timely action.</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470" y="953311"/>
            <a:ext cx="8875059" cy="538912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endParaRPr lang="en-IN"/>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470" y="603114"/>
            <a:ext cx="8875059" cy="5593405"/>
          </a:xfrm>
          <a:prstGeom prst="rect">
            <a:avLst/>
          </a:prstGeom>
        </p:spPr>
      </p:pic>
    </p:spTree>
    <p:extLst>
      <p:ext uri="{BB962C8B-B14F-4D97-AF65-F5344CB8AC3E}">
        <p14:creationId xmlns:p14="http://schemas.microsoft.com/office/powerpoint/2010/main" val="3165292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320" y="903499"/>
            <a:ext cx="9700752" cy="624515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3060</TotalTime>
  <Words>1158</Words>
  <Application>Microsoft Office PowerPoint</Application>
  <PresentationFormat>Widescreen</PresentationFormat>
  <Paragraphs>117</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PUJA SAWANT</cp:lastModifiedBy>
  <cp:revision>118</cp:revision>
  <dcterms:created xsi:type="dcterms:W3CDTF">2025-07-08T05:06:56Z</dcterms:created>
  <dcterms:modified xsi:type="dcterms:W3CDTF">2026-07-19T10:12:05Z</dcterms:modified>
</cp:coreProperties>
</file>